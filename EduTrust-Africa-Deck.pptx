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hero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ck/assets/wordmark_title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3928" y="2272668"/>
            <a:ext cx="7863840" cy="103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280160" y="3429000"/>
            <a:ext cx="96313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Decentralized Cross-Border Academic Credential Verification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404208" y="4251960"/>
            <a:ext cx="3383280" cy="566928"/>
          </a:xfrm>
          <a:prstGeom prst="roundRect">
            <a:avLst>
              <a:gd fmla="val 22581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404208" y="4251960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r>
              <a:rPr b="1" lang="en-US">
                <a:solidFill>
                  <a:srgbClr val="FFFFFF"/>
                </a:solidFill>
              </a:rPr>
              <a:t>unotonye Briggs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SOFTWARE ENGINEERING · SUMMATIVE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content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PERSONAL MISSION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758952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I Build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badge_mission.png" id="30" name="Google Shape;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4375" y="384048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548640" y="1965960"/>
            <a:ext cx="11094415" cy="4160520"/>
          </a:xfrm>
          <a:prstGeom prst="roundRect">
            <a:avLst>
              <a:gd fmla="val 3077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68680" y="205740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0"/>
              <a:buFont typeface="Times New Roman"/>
              <a:buNone/>
            </a:pPr>
            <a:r>
              <a:rPr b="1" i="0" lang="en-US" sz="9000" u="none" cap="none" strike="noStrike">
                <a:solidFill>
                  <a:srgbClr val="8B5C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71600" y="2651760"/>
            <a:ext cx="9448495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I want to use software engineering to </a:t>
            </a:r>
            <a:r>
              <a:rPr b="1" i="0" lang="en-US" sz="24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bridge gaps in systems, access, and trust</a:t>
            </a:r>
            <a:r>
              <a:rPr b="0" i="0" lang="en-US" sz="24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 by building practical, secure, and human-centered technology that creates </a:t>
            </a:r>
            <a:r>
              <a:rPr b="1" i="0" lang="en-US" sz="24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meaningful impact</a:t>
            </a:r>
            <a:r>
              <a:rPr b="0" i="0" lang="en-US" sz="24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 within the African continent majorly, and the world as a whole.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wordmark_small.png" id="34" name="Google Shape;34;p4"/>
          <p:cNvPicPr preferRelativeResize="0"/>
          <p:nvPr/>
        </p:nvPicPr>
        <p:blipFill rotWithShape="1">
          <a:blip r:embed="rId5">
            <a:alphaModFix amt="75000"/>
          </a:blip>
          <a:srcRect b="0" l="0" r="0" t="0"/>
          <a:stretch/>
        </p:blipFill>
        <p:spPr>
          <a:xfrm>
            <a:off x="548640" y="6291072"/>
            <a:ext cx="914400" cy="17547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1094415" y="629107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content.png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758952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 Is Broken Across Borders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badge_problem.png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4375" y="384048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548640" y="1965960"/>
            <a:ext cx="3515258" cy="4160520"/>
          </a:xfrm>
          <a:prstGeom prst="roundRect">
            <a:avLst>
              <a:gd fmla="val 3642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globe.png" id="46" name="Google Shape;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22860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868680" y="3200400"/>
            <a:ext cx="287517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Fragmented Systems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68680" y="3794760"/>
            <a:ext cx="287517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Academic credentials sit in disconnected institutional silos across Nigeria, Rwanda, and the wider continent</a:t>
            </a:r>
            <a:r>
              <a:rPr lang="en-US" sz="1250">
                <a:solidFill>
                  <a:srgbClr val="D7DBE8"/>
                </a:solidFill>
              </a:rPr>
              <a:t>, </a:t>
            </a:r>
            <a:r>
              <a:rPr b="0" i="0" lang="en-US" sz="125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with no shared standard for cross-border checks.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338218" y="1965960"/>
            <a:ext cx="3515258" cy="4160520"/>
          </a:xfrm>
          <a:prstGeom prst="roundRect">
            <a:avLst>
              <a:gd fmla="val 3642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lock.png" id="50" name="Google Shape;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8258" y="22860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4658258" y="3200400"/>
            <a:ext cx="287517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Manual, Centralized Checks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658258" y="3794760"/>
            <a:ext cx="287517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Employers and admissions teams depend on slow calls, emails, and paperwork routed through a single institutional gatekeeper.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127797" y="1965960"/>
            <a:ext cx="3515258" cy="4160520"/>
          </a:xfrm>
          <a:prstGeom prst="roundRect">
            <a:avLst>
              <a:gd fmla="val 3642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problem.png"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7837" y="22860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8447837" y="3200400"/>
            <a:ext cx="287517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Vulnerable to Fraud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447837" y="3794760"/>
            <a:ext cx="287517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Slow, manual, paper-based processes leave the door wide open to fake degrees and falsified transcripts that are costly to catch.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wordmark_small.png" id="57" name="Google Shape;57;p5"/>
          <p:cNvPicPr preferRelativeResize="0"/>
          <p:nvPr/>
        </p:nvPicPr>
        <p:blipFill rotWithShape="1">
          <a:blip r:embed="rId7">
            <a:alphaModFix amt="75000"/>
          </a:blip>
          <a:srcRect b="0" l="0" r="0" t="0"/>
          <a:stretch/>
        </p:blipFill>
        <p:spPr>
          <a:xfrm>
            <a:off x="548640" y="6291072"/>
            <a:ext cx="914400" cy="17547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11094415" y="629107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content.png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48640" y="758952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Paper Trails to Cryptographic Proof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EduTrust-Africa anchors every credential on the </a:t>
            </a:r>
            <a:r>
              <a:rPr b="1" i="0" lang="en-US" sz="14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Ethereum blockchain</a:t>
            </a:r>
            <a:r>
              <a:rPr lang="en-US" sz="1450">
                <a:solidFill>
                  <a:srgbClr val="D7DBE8"/>
                </a:solidFill>
              </a:rPr>
              <a:t>, </a:t>
            </a:r>
            <a:r>
              <a:rPr b="0" i="0" lang="en-US" sz="145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turning institutional trust into verifiable math.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2331720"/>
            <a:ext cx="2485568" cy="3703320"/>
          </a:xfrm>
          <a:prstGeom prst="roundRect">
            <a:avLst>
              <a:gd fmla="val 5150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issue.png" id="69" name="Google Shape;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2240" y="265176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548640" y="3429000"/>
            <a:ext cx="248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48640" y="3703320"/>
            <a:ext cx="2485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Issue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49808" y="4114800"/>
            <a:ext cx="208323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University uploads the official certificate to the portal.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951912" y="2724912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418256" y="2331720"/>
            <a:ext cx="2485568" cy="3703320"/>
          </a:xfrm>
          <a:prstGeom prst="roundRect">
            <a:avLst>
              <a:gd fmla="val 5150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hash.png" id="75" name="Google Shape;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1856" y="265176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3418256" y="3429000"/>
            <a:ext cx="248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418256" y="3703320"/>
            <a:ext cx="2485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619424" y="4114800"/>
            <a:ext cx="208323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The browser generates a private SHA-256 fingerprint</a:t>
            </a:r>
            <a:r>
              <a:rPr lang="en-US" sz="1100">
                <a:solidFill>
                  <a:srgbClr val="D7DBE8"/>
                </a:solidFill>
              </a:rPr>
              <a:t>, </a:t>
            </a: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the file never leaves the device.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821528" y="2724912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287872" y="2331720"/>
            <a:ext cx="2485568" cy="3703320"/>
          </a:xfrm>
          <a:prstGeom prst="roundRect">
            <a:avLst>
              <a:gd fmla="val 5150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chain.png" id="81" name="Google Shape;8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1472" y="265176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6287872" y="3429000"/>
            <a:ext cx="248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287872" y="3703320"/>
            <a:ext cx="2485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Anchor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489040" y="4114800"/>
            <a:ext cx="208323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The hash is written on-chain to the Ethereum smart contract.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691143" y="2724912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9157487" y="2331720"/>
            <a:ext cx="2485568" cy="3703320"/>
          </a:xfrm>
          <a:prstGeom prst="roundRect">
            <a:avLst>
              <a:gd fmla="val 5150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verify.png" id="87" name="Google Shape;8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71087" y="265176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9157487" y="3429000"/>
            <a:ext cx="248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157487" y="3703320"/>
            <a:ext cx="2485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358655" y="4114800"/>
            <a:ext cx="208323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Anyone can instantly confirm authenticity</a:t>
            </a:r>
            <a:r>
              <a:rPr lang="en-US" sz="1100">
                <a:solidFill>
                  <a:srgbClr val="D7DBE8"/>
                </a:solidFill>
              </a:rPr>
              <a:t>, </a:t>
            </a: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free, public, tamper-proof.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wordmark_small.png" id="91" name="Google Shape;91;p6"/>
          <p:cNvPicPr preferRelativeResize="0"/>
          <p:nvPr/>
        </p:nvPicPr>
        <p:blipFill rotWithShape="1">
          <a:blip r:embed="rId8">
            <a:alphaModFix amt="75000"/>
          </a:blip>
          <a:srcRect b="0" l="0" r="0" t="0"/>
          <a:stretch/>
        </p:blipFill>
        <p:spPr>
          <a:xfrm>
            <a:off x="548640" y="6291072"/>
            <a:ext cx="914400" cy="17547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11094415" y="629107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content.png"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ENGINEERING DEEP-DIVE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48640" y="758952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Contract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badge_contract.png" id="101" name="Google Shape;1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4375" y="384048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548640" y="2011680"/>
            <a:ext cx="5074920" cy="1298448"/>
          </a:xfrm>
          <a:prstGeom prst="roundRect">
            <a:avLst>
              <a:gd fmla="val 9859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lock.png" id="103" name="Google Shape;1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23774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1508760" y="2157984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onlyAdmin Modifier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508760" y="2487168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Restricts issuer accreditation to a single verified admin wallet, blocking unauthorized minting.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3493008"/>
            <a:ext cx="5074920" cy="1298448"/>
          </a:xfrm>
          <a:prstGeom prst="roundRect">
            <a:avLst>
              <a:gd fmla="val 9859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registry.png" id="107" name="Google Shape;10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385876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1508760" y="3639312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accreditedIssuers Registry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508760" y="3968496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An on-chain mapping of verified university wallets</a:t>
            </a:r>
            <a:r>
              <a:rPr lang="en-US" sz="1100">
                <a:solidFill>
                  <a:srgbClr val="D7DBE8"/>
                </a:solidFill>
              </a:rPr>
              <a:t>, </a:t>
            </a: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the single source of truth for who may issue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48640" y="4974336"/>
            <a:ext cx="5074920" cy="1298448"/>
          </a:xfrm>
          <a:prstGeom prst="roundRect">
            <a:avLst>
              <a:gd fmla="val 9859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ruct.png" id="111" name="Google Shape;11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534009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1508760" y="5120640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Credential Struct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508760" y="5449824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Stores only the hash, issuer, and status on-chain — never personal student data, protecting privacy by design.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wordmark_small.png" id="114" name="Google Shape;114;p7"/>
          <p:cNvPicPr preferRelativeResize="0"/>
          <p:nvPr/>
        </p:nvPicPr>
        <p:blipFill rotWithShape="1">
          <a:blip r:embed="rId8">
            <a:alphaModFix amt="75000"/>
          </a:blip>
          <a:srcRect b="0" l="0" r="0" t="0"/>
          <a:stretch/>
        </p:blipFill>
        <p:spPr>
          <a:xfrm>
            <a:off x="548640" y="6291072"/>
            <a:ext cx="914400" cy="17547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/>
          <p:nvPr/>
        </p:nvSpPr>
        <p:spPr>
          <a:xfrm>
            <a:off x="11094415" y="629107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30840" y="2098540"/>
            <a:ext cx="5212200" cy="4160400"/>
          </a:xfrm>
          <a:prstGeom prst="roundRect">
            <a:avLst>
              <a:gd fmla="val 3077" name="adj"/>
            </a:avLst>
          </a:prstGeom>
          <a:solidFill>
            <a:srgbClr val="070A12"/>
          </a:solidFill>
          <a:ln cap="flat" cmpd="sng" w="12700">
            <a:solidFill>
              <a:srgbClr val="2A305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705160" y="2354572"/>
            <a:ext cx="146400" cy="146400"/>
          </a:xfrm>
          <a:prstGeom prst="ellipse">
            <a:avLst/>
          </a:prstGeom>
          <a:solidFill>
            <a:srgbClr val="E553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961192" y="2354572"/>
            <a:ext cx="146400" cy="146400"/>
          </a:xfrm>
          <a:prstGeom prst="ellipse">
            <a:avLst/>
          </a:prstGeom>
          <a:solidFill>
            <a:srgbClr val="E7B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217224" y="2354572"/>
            <a:ext cx="146400" cy="146400"/>
          </a:xfrm>
          <a:prstGeom prst="ellipse">
            <a:avLst/>
          </a:prstGeom>
          <a:solidFill>
            <a:srgbClr val="3EB5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705160" y="2601460"/>
            <a:ext cx="466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6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0A6"/>
                </a:solidFill>
                <a:latin typeface="Courier New"/>
                <a:ea typeface="Courier New"/>
                <a:cs typeface="Courier New"/>
                <a:sym typeface="Courier New"/>
              </a:rPr>
              <a:t>EduTrust.sol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05160" y="2967220"/>
            <a:ext cx="46635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contract EduTrust {</a:t>
            </a:r>
            <a:br>
              <a:rPr b="0" i="0" lang="en-US" sz="11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  <a:t>  struct Issuer {</a:t>
            </a:r>
            <a:b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institutionName;</a:t>
            </a:r>
            <a:b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    bool isAuthorized;</a:t>
            </a:r>
            <a:b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b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  <a:t>  struct Credential {</a:t>
            </a:r>
            <a:b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    bytes32 credentialHash;</a:t>
            </a:r>
            <a:b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studentIdHash;</a:t>
            </a:r>
            <a:b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    bool isValid;</a:t>
            </a:r>
            <a:br>
              <a:rPr b="0" i="0" lang="en-US" sz="115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b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C4B5FD"/>
                </a:solidFill>
                <a:latin typeface="Courier New"/>
                <a:ea typeface="Courier New"/>
                <a:cs typeface="Courier New"/>
                <a:sym typeface="Courier New"/>
              </a:rPr>
              <a:t>  mapping(address =&gt; Issuer)</a:t>
            </a:r>
            <a:br>
              <a:rPr b="0" i="0" lang="en-US" sz="1150" u="none" cap="none" strike="noStrike">
                <a:solidFill>
                  <a:srgbClr val="C4B5F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C4B5FD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accreditedIssuers;</a:t>
            </a:r>
            <a:br>
              <a:rPr b="0" i="0" lang="en-US" sz="1150" u="none" cap="none" strike="noStrike">
                <a:solidFill>
                  <a:srgbClr val="C4B5F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67E8F9"/>
                </a:solidFill>
                <a:latin typeface="Courier New"/>
                <a:ea typeface="Courier New"/>
                <a:cs typeface="Courier New"/>
                <a:sym typeface="Courier New"/>
              </a:rPr>
              <a:t>  modifier onlyAdmin() { ... }</a:t>
            </a:r>
            <a:br>
              <a:rPr b="0" i="0" lang="en-US" sz="1150" u="none" cap="none" strike="noStrike">
                <a:solidFill>
                  <a:srgbClr val="67E8F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content.png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48640" y="758952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Tested &amp; Deployed on Sepolia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badge_testing.png" id="130" name="Google Shape;1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4375" y="384048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548640" y="2011680"/>
            <a:ext cx="3749040" cy="4160520"/>
          </a:xfrm>
          <a:prstGeom prst="roundRect">
            <a:avLst>
              <a:gd fmla="val 3415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text_stat_1717.png" id="132" name="Google Shape;13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2854006"/>
            <a:ext cx="2743200" cy="1004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822960" y="4117083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Integration Tests Passing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663440" y="2011680"/>
            <a:ext cx="3375508" cy="1481328"/>
          </a:xfrm>
          <a:prstGeom prst="roundRect">
            <a:avLst>
              <a:gd fmla="val 8642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verify.png" id="135" name="Google Shape;13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25008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5577840" y="2011680"/>
            <a:ext cx="227822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Issuer Authorization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67548" y="2011680"/>
            <a:ext cx="3375508" cy="1481328"/>
          </a:xfrm>
          <a:prstGeom prst="roundRect">
            <a:avLst>
              <a:gd fmla="val 8642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verify.png" id="138" name="Google Shape;13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3580" y="25008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9181948" y="2011680"/>
            <a:ext cx="227822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Credential Minting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663440" y="3721608"/>
            <a:ext cx="3375508" cy="1481328"/>
          </a:xfrm>
          <a:prstGeom prst="roundRect">
            <a:avLst>
              <a:gd fmla="val 8642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verify.png" id="141" name="Google Shape;14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42108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5577840" y="3721608"/>
            <a:ext cx="227822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Forgery Prevention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267548" y="3721608"/>
            <a:ext cx="3375508" cy="1481328"/>
          </a:xfrm>
          <a:prstGeom prst="roundRect">
            <a:avLst>
              <a:gd fmla="val 8642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step_verify.png" id="144" name="Google Shape;14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3580" y="42108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9181948" y="3721608"/>
            <a:ext cx="227822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Revocation Workflow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663440" y="5522976"/>
            <a:ext cx="69796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Deployed live to the Ethereum </a:t>
            </a: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Sepolia Testnet</a:t>
            </a:r>
            <a:r>
              <a:rPr lang="en-US" sz="1200">
                <a:solidFill>
                  <a:srgbClr val="D7DBE8"/>
                </a:solidFill>
              </a:rPr>
              <a:t>,</a:t>
            </a:r>
            <a:r>
              <a:rPr b="0" i="0" lang="en-US" sz="12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 every transaction publicly verifiable on Etherscan.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wordmark_small.png" id="147" name="Google Shape;147;p8"/>
          <p:cNvPicPr preferRelativeResize="0"/>
          <p:nvPr/>
        </p:nvPicPr>
        <p:blipFill rotWithShape="1">
          <a:blip r:embed="rId7">
            <a:alphaModFix amt="75000"/>
          </a:blip>
          <a:srcRect b="0" l="0" r="0" t="0"/>
          <a:stretch/>
        </p:blipFill>
        <p:spPr>
          <a:xfrm>
            <a:off x="548640" y="6291072"/>
            <a:ext cx="914400" cy="17547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11094415" y="629107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08650" y="4713725"/>
            <a:ext cx="3429000" cy="868800"/>
          </a:xfrm>
          <a:prstGeom prst="roundRect">
            <a:avLst>
              <a:gd fmla="val 10526" name="adj"/>
            </a:avLst>
          </a:prstGeom>
          <a:solidFill>
            <a:srgbClr val="0F1424"/>
          </a:solidFill>
          <a:ln cap="flat" cmpd="sng" w="12700">
            <a:solidFill>
              <a:srgbClr val="2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45810" y="4832597"/>
            <a:ext cx="315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CONTRACT VERIFIED ON ETHERSCAN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45810" y="5143493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BE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BE6"/>
                </a:solidFill>
                <a:latin typeface="Courier New"/>
                <a:ea typeface="Courier New"/>
                <a:cs typeface="Courier New"/>
                <a:sym typeface="Courier New"/>
              </a:rPr>
              <a:t>0x4C11...9868  ·  Sepolia Testnet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content.png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48640" y="758952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This Project Proves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48640" y="1965960"/>
            <a:ext cx="3515258" cy="4160520"/>
          </a:xfrm>
          <a:prstGeom prst="roundRect">
            <a:avLst>
              <a:gd fmla="val 3642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insight_trust.png" id="161" name="Google Shape;1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7649" y="23317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822960" y="3337560"/>
            <a:ext cx="2966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Trust, Enforced by Math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68680" y="4069080"/>
            <a:ext cx="287517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Cryptographic proof replaces institutional promises. Authenticity becomes mathematically verifiable, not just claimed.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338218" y="1965960"/>
            <a:ext cx="3515258" cy="4160520"/>
          </a:xfrm>
          <a:prstGeom prst="roundRect">
            <a:avLst>
              <a:gd fmla="val 3642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insight_cost.png" id="165" name="Google Shape;16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7228" y="23317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4612538" y="3337560"/>
            <a:ext cx="2966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Costly Middlemen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658258" y="4069080"/>
            <a:ext cx="287517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Removes the need for expensive cross-border administrative mediation between institutions, agencies, and embassies.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127797" y="1965960"/>
            <a:ext cx="3515258" cy="4160520"/>
          </a:xfrm>
          <a:prstGeom prst="roundRect">
            <a:avLst>
              <a:gd fmla="val 3642" name="adj"/>
            </a:avLst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adge_insight_control.png" id="169" name="Google Shape;16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96806" y="23317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8402117" y="3337560"/>
            <a:ext cx="2966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Returns to Users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447837" y="4069080"/>
            <a:ext cx="287517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Employers and institutions validate credentials directly and instantly</a:t>
            </a:r>
            <a:r>
              <a:rPr lang="en-US" sz="1200">
                <a:solidFill>
                  <a:srgbClr val="D7DBE8"/>
                </a:solidFill>
              </a:rPr>
              <a:t>, </a:t>
            </a:r>
            <a:r>
              <a:rPr b="0" i="0" lang="en-US" sz="12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 no gatekeeper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wordmark_small.png" id="172" name="Google Shape;172;p9"/>
          <p:cNvPicPr preferRelativeResize="0"/>
          <p:nvPr/>
        </p:nvPicPr>
        <p:blipFill rotWithShape="1">
          <a:blip r:embed="rId7">
            <a:alphaModFix amt="75000"/>
          </a:blip>
          <a:srcRect b="0" l="0" r="0" t="0"/>
          <a:stretch/>
        </p:blipFill>
        <p:spPr>
          <a:xfrm>
            <a:off x="548640" y="6291072"/>
            <a:ext cx="914400" cy="17547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11094415" y="629107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hero.png" id="179" name="Google Shape;1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ck/assets/text_demo.png"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5528" y="2672368"/>
            <a:ext cx="5120640" cy="1513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hero.png"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ck/assets/text_thankyou.png" id="187" name="Google Shape;1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8408" y="2274277"/>
            <a:ext cx="4754880" cy="93784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/>
          <p:nvPr/>
        </p:nvSpPr>
        <p:spPr>
          <a:xfrm>
            <a:off x="1280160" y="3520440"/>
            <a:ext cx="963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BE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7DBE8"/>
                </a:solidFill>
                <a:latin typeface="Arial"/>
                <a:ea typeface="Arial"/>
                <a:cs typeface="Arial"/>
                <a:sym typeface="Arial"/>
              </a:rPr>
              <a:t>Questions &amp; discussion are welcome.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404208" y="4206240"/>
            <a:ext cx="3383280" cy="548640"/>
          </a:xfrm>
          <a:prstGeom prst="roundRect">
            <a:avLst>
              <a:gd fmla="val 23333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4404208" y="42062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r>
              <a:rPr b="1" lang="en-US">
                <a:solidFill>
                  <a:srgbClr val="FFFFFF"/>
                </a:solidFill>
              </a:rPr>
              <a:t>unotonye Briggs</a:t>
            </a: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300" u="none" cap="none" strike="noStrike">
                <a:solidFill>
                  <a:srgbClr val="8B93A8"/>
                </a:solidFill>
                <a:latin typeface="Arial"/>
                <a:ea typeface="Arial"/>
                <a:cs typeface="Arial"/>
                <a:sym typeface="Arial"/>
              </a:rPr>
              <a:t>·  EduTrust-Africa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